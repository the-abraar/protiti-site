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5029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2400E"/>
                </a:solidFill>
                <a:latin typeface="Arial"/>
              </a:defRPr>
            </a:pPr>
            <a:r>
              <a:t>DKC DIGITAL RESPECT &amp; COHESION FELLOWSHIP 2026</a:t>
            </a:r>
          </a:p>
          <a:p>
            <a:pPr>
              <a:defRPr sz="4000" b="1">
                <a:solidFill>
                  <a:srgbClr val="18181B"/>
                </a:solidFill>
                <a:latin typeface="Arial"/>
              </a:defRPr>
            </a:pPr>
            <a:r>
              <a:t>Project Protiti (প্রতীতি)</a:t>
            </a:r>
          </a:p>
          <a:p>
            <a:pPr>
              <a:defRPr sz="1600">
                <a:solidFill>
                  <a:srgbClr val="00695C"/>
                </a:solidFill>
                <a:latin typeface="Arial"/>
              </a:defRPr>
            </a:pPr>
            <a:r>
              <a:t>“সন্দেহহীন সত্য, অকাট্য প্রমাণের অধিকার”</a:t>
            </a:r>
            <a:br/>
            <a:r>
              <a:t>From Doubt to Certitude: Structure for Digital Justice</a:t>
            </a:r>
          </a:p>
          <a:p>
            <a:br/>
            <a:pPr>
              <a:defRPr sz="1300">
                <a:solidFill>
                  <a:srgbClr val="3F3F46"/>
                </a:solidFill>
                <a:latin typeface="Arial"/>
              </a:defRPr>
            </a:pPr>
            <a:r>
              <a:t>A Trauma-Informed Digital Evidence Vault, Legal Automator (Cyber Protection Act 2026), and Offline Emergency SOS Framework for Women in Bangladesh.</a:t>
            </a:r>
          </a:p>
          <a:p>
            <a:br/>
            <a:pPr>
              <a:defRPr sz="1100">
                <a:solidFill>
                  <a:srgbClr val="6B7280"/>
                </a:solidFill>
                <a:latin typeface="Arial"/>
              </a:defRPr>
            </a:pPr>
            <a:r>
              <a:t>Partners: UNDP Bangladesh  •  European Union  •  SURGE</a:t>
            </a:r>
            <a:br/>
            <a:r>
              <a:t>Theme: Gender-based Online Violence  •  Lens: Gender Equity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731520"/>
            <a:ext cx="329184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868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FELLOWSHIP TEAM ROSTER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8181B"/>
                </a:solidFill>
              </a:defRPr>
            </a:pPr>
            <a:r>
              <a:t>CORE FELLOWS (Bootcamps &amp; Leadership):</a:t>
            </a:r>
          </a:p>
          <a:p>
            <a:pPr>
              <a:defRPr sz="1100" b="1">
                <a:solidFill>
                  <a:srgbClr val="92400E"/>
                </a:solidFill>
              </a:defRPr>
            </a:pPr>
            <a:r>
              <a:t>• FARZANA REZA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Team Leader, Operations, Marketing &amp; Research (Acting UI/UX)</a:t>
            </a:r>
          </a:p>
          <a:p>
            <a:pPr>
              <a:defRPr sz="1100" b="1">
                <a:solidFill>
                  <a:srgbClr val="00695C"/>
                </a:solidFill>
              </a:defRPr>
            </a:pPr>
            <a:r>
              <a:t>• ABRAR MASUD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AI &amp; Systems Engineer (Acting Full-Stack / Mobile)</a:t>
            </a:r>
          </a:p>
          <a:p>
            <a:pPr>
              <a:defRPr sz="1100" b="1">
                <a:solidFill>
                  <a:srgbClr val="18181B"/>
                </a:solidFill>
              </a:defRPr>
            </a:pPr>
            <a:r>
              <a:t>• MITHILA KHAN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Legal Advisor &amp; Statutory Compliance (CPA 2026)</a:t>
            </a:r>
          </a:p>
          <a:p>
            <a:pPr>
              <a:defRPr sz="1100" b="1">
                <a:solidFill>
                  <a:srgbClr val="6B7280"/>
                </a:solidFill>
              </a:defRPr>
            </a:pPr>
            <a:r>
              <a:t>• RESERVE SLOT 4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Dedicated UI/UX Designer (Interim: Farzana)</a:t>
            </a:r>
          </a:p>
          <a:p>
            <a:pPr>
              <a:defRPr sz="1100" b="1">
                <a:solidFill>
                  <a:srgbClr val="6B7280"/>
                </a:solidFill>
              </a:defRPr>
            </a:pPr>
            <a:r>
              <a:t>• RESERVE SLOT 5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Dedicated Flutter Developer (Interim: Abrar)</a:t>
            </a:r>
          </a:p>
          <a:p>
            <a:br/>
            <a:pPr>
              <a:defRPr sz="950" b="1">
                <a:solidFill>
                  <a:srgbClr val="C62828"/>
                </a:solidFill>
              </a:defRPr>
            </a:pPr>
            <a:r>
              <a:t>THE CRITICAL REALITY:</a:t>
            </a:r>
            <a:br/>
            <a:r>
              <a:t>64% of Bangladeshi women face online harassment; 80%+ cases go unreported due to evidence destruction and legal intimidation.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SLIDE 02  •  DKC FELLOWSHIP 2026  •  THEME 04: GENDER-BASED ONLINE VIOLENCE</a:t>
            </a:r>
          </a:p>
          <a:p>
            <a:pPr>
              <a:defRPr sz="2400" b="1">
                <a:solidFill>
                  <a:srgbClr val="18181B"/>
                </a:solidFill>
                <a:latin typeface="Arial"/>
              </a:defRPr>
            </a:pPr>
            <a:r>
              <a:t>The Reality: Online Violence Destroys Evidence &amp; Silences Victims</a:t>
            </a:r>
          </a:p>
          <a:p>
            <a:pPr>
              <a:defRPr sz="1200">
                <a:solidFill>
                  <a:srgbClr val="00695C"/>
                </a:solidFill>
                <a:latin typeface="Arial"/>
              </a:defRPr>
            </a:pPr>
            <a:r>
              <a:t>Trauma, legal complexity, and social stigma prevent survivors from seeking justice.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1. Evidence Panic Deletion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240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Out of immediate panic or fear of family discovery, 80%+ of victims delete chat logs and block abusers, irreversibly erasing digital proof required by police and prosecutors.</a:t>
            </a:r>
          </a:p>
          <a:p>
            <a:br/>
            <a:pPr>
              <a:defRPr sz="1000" b="1">
                <a:solidFill>
                  <a:srgbClr val="92400E"/>
                </a:solidFill>
              </a:defRPr>
            </a:pPr>
            <a:r>
              <a:t>Impact: Without bitwise evidence, law enforcement cannot file an FIR under CrPC Sec 154.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2. Legal Intimidation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240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The Cyber Security Act has been repealed by the Cyber Protection Act 2026. General Diary (GD) drafting demands specific statutory mapping that ordinary survivors cannot navigate alone.</a:t>
            </a:r>
          </a:p>
          <a:p>
            <a:br/>
            <a:pPr>
              <a:defRPr sz="1000" b="1">
                <a:solidFill>
                  <a:srgbClr val="00695C"/>
                </a:solidFill>
              </a:defRPr>
            </a:pPr>
            <a:r>
              <a:t>Impact: Duty officers reject handwritten, unstructured victim complaints at local Thanas.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3. The Forensic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86000"/>
            <a:ext cx="2240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Simple screenshots are easily dismissed in court. Defense lawyers routinely challenge them for lack of metadata, timestamps, URL origins, or Evidence Act Section 65B certificates.</a:t>
            </a:r>
          </a:p>
          <a:p>
            <a:br/>
            <a:pPr>
              <a:defRPr sz="1000" b="1">
                <a:solidFill>
                  <a:srgbClr val="92400E"/>
                </a:solidFill>
              </a:defRPr>
            </a:pPr>
            <a:r>
              <a:t>Impact: Forensic admissibility fails before the Divisional Cyber Tribunals.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4. Coercion &amp; Stigma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286000"/>
            <a:ext cx="2240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Violent partners or household members regularly seize phones to check contents. Without decoy isolation, having an anti-harassment app invites immediate physical retribution.</a:t>
            </a:r>
          </a:p>
          <a:p>
            <a:br/>
            <a:pPr>
              <a:defRPr sz="1000" b="1">
                <a:solidFill>
                  <a:srgbClr val="92400E"/>
                </a:solidFill>
              </a:defRPr>
            </a:pPr>
            <a:r>
              <a:t>Impact: Victims remain trapped in silence under fear of physical assault.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SLIDE 03  •  DKC FELLOWSHIP 2026  •  THEME 04: GENDER-BASED ONLINE VIOLENCE</a:t>
            </a:r>
          </a:p>
          <a:p>
            <a:pPr>
              <a:defRPr sz="2400" b="1">
                <a:solidFill>
                  <a:srgbClr val="18181B"/>
                </a:solidFill>
                <a:latin typeface="Arial"/>
              </a:defRPr>
            </a:pPr>
            <a:r>
              <a:t>The Solution: Protiti (প্রতীতি) — Structural Safety &amp; Justice</a:t>
            </a:r>
          </a:p>
          <a:p>
            <a:pPr>
              <a:defRPr sz="1200">
                <a:solidFill>
                  <a:srgbClr val="00695C"/>
                </a:solidFill>
                <a:latin typeface="Arial"/>
              </a:defRPr>
            </a:pPr>
            <a:r>
              <a:t>An encrypted, trauma-informed digital legal assistant engineered for Bangladesh.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🔒 On-Device Secure 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• AES-256 / SQLCipher local encryption with zero cloud exposure of sensitive media.</a:t>
            </a:r>
            <a:br/>
            <a:r>
              <a:t>• Duress PIN (Decoy Vault): Entering 9999 loads benign notes/recipes to safely bypass physical coercion.</a:t>
            </a:r>
            <a:br/>
            <a:r>
              <a:t>• Stealth Calculator Disguise: Masked as functional arithmetic utility.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📝 Automated e-GD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• Translates traumatic experiences into standard Bangladesh Police e-GD schema (gd.police.gov.bd).</a:t>
            </a:r>
            <a:br/>
            <a:r>
              <a:t>• Direct Section mapping to Cyber Protection Act 2026 &amp; Pornography Control Act 2012.</a:t>
            </a:r>
            <a:br/>
            <a:r>
              <a:t>• Generates bilingual (Bengali/English) printable PDF with QR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🚨 Offline Panic SOS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• 3-Second Hold circular progress trigger with haptic feedback to prevent accidental triggers.</a:t>
            </a:r>
            <a:br/>
            <a:r>
              <a:t>• Zero-Data SMS Fallback: Broadcasts GPS coordinates to trusted contacts without cellular data.</a:t>
            </a:r>
            <a:br/>
            <a:r>
              <a:t>• One-touch speed dialing for National Emergency 999 and Police Cyber Support for Women (PCSW).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148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🤝 Support Bridge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7200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• Direct institutional escalation to BLAST (2,500 panel lawyers) &amp; BNWLA for pro-bono representation.</a:t>
            </a:r>
            <a:br/>
            <a:r>
              <a:t>• Integrated crisis counseling directory (Kaan Pete Roi, Moner Janala).</a:t>
            </a:r>
            <a:br/>
            <a:r>
              <a:t>• Confidential triage by vetted female cyber crime officers.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SLIDE 04  •  DKC FELLOWSHIP 2026  •  THEME 04: GENDER-BASED ONLINE VIOLENCE</a:t>
            </a:r>
          </a:p>
          <a:p>
            <a:pPr>
              <a:defRPr sz="2400" b="1">
                <a:solidFill>
                  <a:srgbClr val="18181B"/>
                </a:solidFill>
                <a:latin typeface="Arial"/>
              </a:defRPr>
            </a:pPr>
            <a:r>
              <a:t>How It Works: 5-Stage Journey From Chaos to Certitude</a:t>
            </a:r>
          </a:p>
          <a:p>
            <a:pPr>
              <a:defRPr sz="1200">
                <a:solidFill>
                  <a:srgbClr val="00695C"/>
                </a:solidFill>
                <a:latin typeface="Arial"/>
              </a:defRPr>
            </a:pPr>
            <a:r>
              <a:t>Guided step-by-step pipeline transforming chaotic abuse into courtroom-admissible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Step 1: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8379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Survivor captures screenshot, audio voice note, URL, or harassing chat before blocking abuser.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574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783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Step 2: Authenticate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286000"/>
            <a:ext cx="18379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Protiti extracts RFC 3161 timestamps, EXIF metadata, and generates bitwise SHA-256 forensic hash.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20574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783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Step 3: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2286000"/>
            <a:ext cx="18379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Trauma-informed 4-step wizard guides survivor through emotional and factual details in plain Bangla.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645920"/>
            <a:ext cx="20574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783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Step 4: Formulate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2286000"/>
            <a:ext cx="18379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Engine auto-maps facts to CPA 2026 sections, generating DMP-standard General Diary (e-GD payload).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645920"/>
            <a:ext cx="20574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783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Step 5: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8" y="2286000"/>
            <a:ext cx="18379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Survivor submits directly to Thana / PCSW online, or dispatches securely to BLAST/BNWLA legal counsel.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BEFORE vs AFTER PROTITI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8181B"/>
                </a:solidFill>
              </a:defRPr>
            </a:pPr>
            <a:r>
              <a:t>BEFORE: Panic deletion → 0 legal proof → Dismissed by police → Perpetrator escalates abuse.</a:t>
            </a:r>
            <a:br/>
            <a:r>
              <a:t>AFTER: Untouched encrypted vault → Bitwise SHA-256 verification → Evidence Act Sec 65B certified GD → Rapid police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SLIDE 05  •  DKC FELLOWSHIP 2026  •  THEME 04: GENDER-BASED ONLINE VIOLENCE</a:t>
            </a:r>
          </a:p>
          <a:p>
            <a:pPr>
              <a:defRPr sz="2400" b="1">
                <a:solidFill>
                  <a:srgbClr val="18181B"/>
                </a:solidFill>
                <a:latin typeface="Arial"/>
              </a:defRPr>
            </a:pPr>
            <a:r>
              <a:t>Technology &amp; Security: Built for Real-World Survival</a:t>
            </a:r>
          </a:p>
          <a:p>
            <a:pPr>
              <a:defRPr sz="1200">
                <a:solidFill>
                  <a:srgbClr val="00695C"/>
                </a:solidFill>
                <a:latin typeface="Arial"/>
              </a:defRPr>
            </a:pPr>
            <a:r>
              <a:t>Engineered to withstand physical coercion, rural network blackouts, and courtroom scrutiny.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🔐 Dual-Vault &amp; Duress 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Hardware-backed Keystore/Keychain encryption (SQLCipher AES-256). Entering Master PIN ('1234') unlocks forensic records; entering Duress PIN ('9999') loads an innocent personal diary.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📲 Launcher Stealth Disguise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Fully functioning 'Smart Calc' persona. Android PackageManager activity-alias toggling hides forensic markers from device inspectors. Face-down quick-exit gesture wipes active RAM.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📡 Zero-Data Offline 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Lightweight GPS extraction (&lt;160 chars) transmitted over native cellular SMS without dependency on mobile data/Wi-Fi. Direct USSD &amp; hotline fallbacks for rural divisional settings.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148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⚖️ Evidence Act Sec 65B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7200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SHA-256 cryptographic hashing (NIST FIPS 180-4) with automated Certificate of Electronic Authenticity adhering to the Evidence (Amendment) Act 2022 and CID forensic lab protocols.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SLIDE 06  •  DKC FELLOWSHIP 2026  •  THEME 04: GENDER-BASED ONLINE VIOLENCE</a:t>
            </a:r>
          </a:p>
          <a:p>
            <a:pPr>
              <a:defRPr sz="2400" b="1">
                <a:solidFill>
                  <a:srgbClr val="18181B"/>
                </a:solidFill>
                <a:latin typeface="Arial"/>
              </a:defRPr>
            </a:pPr>
            <a:r>
              <a:t>Target Community &amp; Measurable Ecosystem Impact</a:t>
            </a:r>
          </a:p>
          <a:p>
            <a:pPr>
              <a:defRPr sz="1200">
                <a:solidFill>
                  <a:srgbClr val="00695C"/>
                </a:solidFill>
                <a:latin typeface="Arial"/>
              </a:defRPr>
            </a:pPr>
            <a:r>
              <a:t>Bridging female university students, rural youth, police cyber cells, and pro-bono litigators.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KEY BENEFICIARIES &amp;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92400E"/>
                </a:solidFill>
              </a:defRPr>
            </a:pPr>
            <a:r>
              <a:t>• Primary Beneficiaries: </a:t>
            </a:r>
          </a:p>
          <a:p>
            <a:pPr>
              <a:defRPr sz="1000">
                <a:solidFill>
                  <a:srgbClr val="3F3F46"/>
                </a:solidFill>
              </a:defRPr>
            </a:pPr>
            <a:r>
              <a:t>   Female university and college students (18–30) residing in student halls and dormitories facing digital harassment, non-consensual image distribution, and deepfakes.</a:t>
            </a:r>
            <a:br/>
          </a:p>
          <a:p>
            <a:pPr>
              <a:defRPr b="1" sz="1100">
                <a:solidFill>
                  <a:srgbClr val="92400E"/>
                </a:solidFill>
              </a:defRPr>
            </a:pPr>
            <a:r>
              <a:t>• Secondary Beneficiaries: </a:t>
            </a:r>
          </a:p>
          <a:p>
            <a:pPr>
              <a:defRPr sz="1000">
                <a:solidFill>
                  <a:srgbClr val="3F3F46"/>
                </a:solidFill>
              </a:defRPr>
            </a:pPr>
            <a:r>
              <a:t>   Rural and peri-urban youth accessing digital safety toolkits through BRAC community networks and Union Digital Centres (UDCs).</a:t>
            </a:r>
            <a:br/>
          </a:p>
          <a:p>
            <a:pPr>
              <a:defRPr b="1" sz="1100">
                <a:solidFill>
                  <a:srgbClr val="92400E"/>
                </a:solidFill>
              </a:defRPr>
            </a:pPr>
            <a:r>
              <a:t>• Institutional Stakeholders: </a:t>
            </a:r>
          </a:p>
          <a:p>
            <a:pPr>
              <a:defRPr sz="1000">
                <a:solidFill>
                  <a:srgbClr val="3F3F46"/>
                </a:solidFill>
              </a:defRPr>
            </a:pPr>
            <a:r>
              <a:t>   Police Cyber Support for Women (PCSW), Thana cyber desks, and pro-bono panels at BLAST and BNWLA.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852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8-MONTH QUANTITATIVE IMPACT TARGETS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695C"/>
                </a:solidFill>
              </a:defRPr>
            </a:pPr>
            <a:r>
              <a:t>✔ 80%+ Reduction in Evidence Destruction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Survivors preserve bitwise intact records instead of deleting traumatic chats.</a:t>
            </a:r>
          </a:p>
          <a:p>
            <a:pPr>
              <a:defRPr b="1" sz="1100">
                <a:solidFill>
                  <a:srgbClr val="00695C"/>
                </a:solidFill>
              </a:defRPr>
            </a:pPr>
            <a:r>
              <a:t>✔ 5,000 Discrete Toolkits Distributed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Pocket-sized safety cards distributed across Dhaka Division campus dormitories and halls.</a:t>
            </a:r>
          </a:p>
          <a:p>
            <a:pPr>
              <a:defRPr b="1" sz="1100">
                <a:solidFill>
                  <a:srgbClr val="00695C"/>
                </a:solidFill>
              </a:defRPr>
            </a:pPr>
            <a:r>
              <a:t>✔ 3x Increase in Admissible e-GDs Filed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Eliminating bureaucratic rejection at local police stations via standardized schema.</a:t>
            </a:r>
          </a:p>
          <a:p>
            <a:pPr>
              <a:defRPr b="1" sz="1100">
                <a:solidFill>
                  <a:srgbClr val="00695C"/>
                </a:solidFill>
              </a:defRPr>
            </a:pPr>
            <a:r>
              <a:t>✔ 100% Pro-Bono Legal Escalation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Immediate referral to BLAST's 2,500 panel lawyers for indigent victims.</a:t>
            </a:r>
          </a:p>
          <a:p>
            <a:pPr>
              <a:defRPr b="1" sz="1100">
                <a:solidFill>
                  <a:srgbClr val="00695C"/>
                </a:solidFill>
              </a:defRPr>
            </a:pPr>
            <a:r>
              <a:t>✔ 24/7 Offline Emergency Redundancy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SMS-based coordinates ensure rural safety even in zero-data mobile blackouts.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SLIDE 07  •  DKC FELLOWSHIP 2026  •  THEME 04: GENDER-BASED ONLINE VIOLENCE</a:t>
            </a:r>
          </a:p>
          <a:p>
            <a:pPr>
              <a:defRPr sz="2400" b="1">
                <a:solidFill>
                  <a:srgbClr val="18181B"/>
                </a:solidFill>
                <a:latin typeface="Arial"/>
              </a:defRPr>
            </a:pPr>
            <a:r>
              <a:t>8-Month Implementation Roadmap &amp; BDT 50,000 Seed Grant</a:t>
            </a:r>
          </a:p>
          <a:p>
            <a:pPr>
              <a:defRPr sz="1200">
                <a:solidFill>
                  <a:srgbClr val="00695C"/>
                </a:solidFill>
                <a:latin typeface="Arial"/>
              </a:defRPr>
            </a:pPr>
            <a:r>
              <a:t>Strictly 0% spent on personal stipends; 100% dedicated to toolkits, workshops, and survivor safety.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8-MONTH PHASED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92400E"/>
                </a:solidFill>
              </a:defRPr>
            </a:pPr>
            <a:r>
              <a:t>• Phase 1: Foundation &amp; Audit (M1–M3) [Oct – Dec 2026]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Finalize on-device SQLCipher vault, Duress PIN, e-GD schema. Conduct BLAST forensic hash validation. Attend Innovation Bootcamp.</a:t>
            </a:r>
            <a:br/>
          </a:p>
          <a:p>
            <a:pPr>
              <a:defRPr b="1" sz="1100">
                <a:solidFill>
                  <a:srgbClr val="92400E"/>
                </a:solidFill>
              </a:defRPr>
            </a:pPr>
            <a:r>
              <a:t>• Phase 2: Dhaka Division Pilot (M4–M6) [Jan – Mar 2027]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Roll out 'Train the Trainer' workshops across Dhaka Division campus dorms (DU, JU, Eden Mohila College, BRACU, NSU). Distribute 5,000 survivor toolkits. Attend Progress Bootcamp.</a:t>
            </a:r>
            <a:br/>
          </a:p>
          <a:p>
            <a:pPr>
              <a:defRPr b="1" sz="1100">
                <a:solidFill>
                  <a:srgbClr val="92400E"/>
                </a:solidFill>
              </a:defRPr>
            </a:pPr>
            <a:r>
              <a:t>• Phase 3: Impact Showcase &amp; National Roadmap (M7–M8) [Apr – May 2027]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National showcase with Cyber Police Centre &amp; UNDP presenting audited Dhaka Pilot results plus the National 8-Division Expansion Roadmap. Open-source the e-GD legal framework. Transition to alumni network.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852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BDT 50,000 SEED GRANT — DHAKA DIVISION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695C"/>
                </a:solidFill>
              </a:defRPr>
            </a:pPr>
            <a:r>
              <a:t>• Survivor Toolkits &amp; Handbooks (16%) — BDT 8,000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5,000 discrete folding survivor cards @ BDT 1.30 + 23 Ambassador/Partner Handbooks.</a:t>
            </a:r>
          </a:p>
          <a:p>
            <a:pPr>
              <a:defRPr b="1" sz="1050">
                <a:solidFill>
                  <a:srgbClr val="00695C"/>
                </a:solidFill>
              </a:defRPr>
            </a:pPr>
            <a:r>
              <a:t>• Campus Workshop Logistics (40%) — BDT 20,000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Refreshments, materials &amp; signage for 10 campus activations across 5 Dhaka Division universities.</a:t>
            </a:r>
          </a:p>
          <a:p>
            <a:pPr>
              <a:defRPr b="1" sz="1050">
                <a:solidFill>
                  <a:srgbClr val="00695C"/>
                </a:solidFill>
              </a:defRPr>
            </a:pPr>
            <a:r>
              <a:t>• Ambassador Ground Logistics (24%) — BDT 12,000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Voucher-backed transit subsidies for 8 female student ambassadors, 8 months.</a:t>
            </a:r>
          </a:p>
          <a:p>
            <a:pPr>
              <a:defRPr b="1" sz="1050">
                <a:solidFill>
                  <a:srgbClr val="00695C"/>
                </a:solidFill>
              </a:defRPr>
            </a:pPr>
            <a:r>
              <a:t>• Hotline Triage Connectivity (12%) — BDT 6,000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Dedicated project SIMs, data packages &amp; kiosk hotspots for emergency case triage.</a:t>
            </a:r>
          </a:p>
          <a:p>
            <a:pPr>
              <a:defRPr b="1" sz="1050">
                <a:solidFill>
                  <a:srgbClr val="00695C"/>
                </a:solidFill>
              </a:defRPr>
            </a:pPr>
            <a:r>
              <a:t>• Audit &amp; National Roadmap Prep (8%) — BDT 4,000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Receipt archiving, compliance reporting, and the Phase 2 National Expansion Roadmap dossier.</a:t>
            </a:r>
          </a:p>
          <a:p>
            <a:br/>
            <a:pPr>
              <a:defRPr sz="850" b="1">
                <a:solidFill>
                  <a:srgbClr val="92400E"/>
                </a:solidFill>
              </a:defRPr>
            </a:pPr>
            <a:r>
              <a:t>*UNDP / DKC COMPLIANCE: Disbursed in 2 tranches (BDT 25k x 2). Strictly BDT 0 spent on personal stipends or honoraria.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5029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2400E"/>
                </a:solidFill>
                <a:latin typeface="Arial"/>
              </a:defRPr>
            </a:pPr>
            <a:r>
              <a:t>SUSTAINABILITY &amp; INSTITUTIONAL HANDOVER</a:t>
            </a:r>
          </a:p>
          <a:p>
            <a:pPr>
              <a:defRPr sz="3200" b="1">
                <a:solidFill>
                  <a:srgbClr val="18181B"/>
                </a:solidFill>
                <a:latin typeface="Arial"/>
              </a:defRPr>
            </a:pPr>
            <a:r>
              <a:t>A Lasting Frame for Digital Justice</a:t>
            </a:r>
          </a:p>
          <a:p>
            <a:br/>
            <a:pPr>
              <a:defRPr sz="1300" b="1">
                <a:solidFill>
                  <a:srgbClr val="00695C"/>
                </a:solidFill>
              </a:defRPr>
            </a:pPr>
            <a:r>
              <a:t>✔ Institutional Handover</a:t>
            </a:r>
          </a:p>
          <a:p>
            <a:pPr>
              <a:defRPr sz="1100">
                <a:solidFill>
                  <a:srgbClr val="3F3F46"/>
                </a:solidFill>
              </a:defRPr>
            </a:pPr>
            <a:r>
              <a:t>Engineered for long-term stewardship by Police Cyber Support for Women (PCSW) and the ICT Division's Cyber Help initiatives.</a:t>
            </a:r>
          </a:p>
          <a:p>
            <a:br/>
            <a:pPr>
              <a:defRPr sz="1300" b="1">
                <a:solidFill>
                  <a:srgbClr val="00695C"/>
                </a:solidFill>
              </a:defRPr>
            </a:pPr>
            <a:r>
              <a:t>✔ Open-Source Legal Schema</a:t>
            </a:r>
          </a:p>
          <a:p>
            <a:pPr>
              <a:defRPr sz="1100">
                <a:solidFill>
                  <a:srgbClr val="3F3F46"/>
                </a:solidFill>
              </a:defRPr>
            </a:pPr>
            <a:r>
              <a:t>The e-GD mapping engine is released as open-source civic tech, allowing civic organizations to update legal sections as laws evolve.</a:t>
            </a:r>
          </a:p>
          <a:p>
            <a:br/>
            <a:pPr>
              <a:defRPr sz="1300" b="1">
                <a:solidFill>
                  <a:srgbClr val="00695C"/>
                </a:solidFill>
              </a:defRPr>
            </a:pPr>
            <a:r>
              <a:t>✔ Alumni Ambassador Continuity</a:t>
            </a:r>
          </a:p>
          <a:p>
            <a:pPr>
              <a:defRPr sz="1100">
                <a:solidFill>
                  <a:srgbClr val="3F3F46"/>
                </a:solidFill>
              </a:defRPr>
            </a:pPr>
            <a:r>
              <a:t>Trained student ambassadors join the permanent DKC Alumni Network to train incoming university cohorts.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097280"/>
            <a:ext cx="41148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0" y="123444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THE CALL TO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1">
                <a:solidFill>
                  <a:srgbClr val="92400E"/>
                </a:solidFill>
              </a:defRPr>
            </a:pPr>
            <a:r>
              <a:t>“Every woman in Bangladesh deserves a frame of safety. Together, we build the structure for undeniable certitude.”</a:t>
            </a:r>
          </a:p>
          <a:p>
            <a:br/>
            <a:br/>
            <a:pPr>
              <a:defRPr sz="1200">
                <a:solidFill>
                  <a:srgbClr val="18181B"/>
                </a:solidFill>
              </a:defRPr>
            </a:pPr>
            <a:r>
              <a:t>Project Protiti (প্রতীতি)</a:t>
            </a:r>
            <a:br/>
            <a:r>
              <a:t>Digital Khichuri Challenge 2026</a:t>
            </a:r>
            <a:br/>
            <a:r>
              <a:t>UNDP Bangladesh • European Union • SURGE</a:t>
            </a:r>
          </a:p>
          <a:p>
            <a:br/>
            <a:pPr>
              <a:defRPr sz="1100" b="1">
                <a:solidFill>
                  <a:srgbClr val="00695C"/>
                </a:solidFill>
              </a:defRPr>
            </a:pPr>
            <a:r>
              <a:t>Team Lead: Farzana Reza</a:t>
            </a:r>
            <a:br/>
            <a:r>
              <a:t>Ready for Stage 1 Evaluation &amp; Innovation Bootcamp.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